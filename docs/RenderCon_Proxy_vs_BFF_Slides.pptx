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D6C0"/>
                </a:solidFill>
                <a:latin typeface="Calibri"/>
              </a:rPr>
              <a:t>RENDERCON TECH TALK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PROXY vs BFF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00D6C0"/>
                </a:solidFill>
                <a:latin typeface="Calibri"/>
              </a:rPr>
              <a:t>Building a Backend for Frontend with Next.js + NestJS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EFEFEF"/>
                </a:solidFill>
                <a:latin typeface="Calibri"/>
              </a:rPr>
              <a:t>GreenKey Realty · Nyeri real estate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235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[Your Name]  ·  fullstack engineer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30–40 minutes  ·  talk + live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73763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640080" cy="502920"/>
          </a:xfrm>
          <a:prstGeom prst="rect">
            <a:avLst/>
          </a:prstGeom>
          <a:solidFill>
            <a:srgbClr val="00D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73763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1430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23864"/>
                </a:solidFill>
                <a:latin typeface="Calibri"/>
              </a:rPr>
              <a:t>Hook — receptionist vs assistant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640080" cy="502920"/>
          </a:xfrm>
          <a:prstGeom prst="rect">
            <a:avLst/>
          </a:prstGeom>
          <a:solidFill>
            <a:srgbClr val="00D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73763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7830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23864"/>
                </a:solidFill>
                <a:latin typeface="Calibri"/>
              </a:rPr>
              <a:t>Why many backends break “Next-only” apps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77439"/>
            <a:ext cx="640080" cy="502920"/>
          </a:xfrm>
          <a:prstGeom prst="rect">
            <a:avLst/>
          </a:prstGeom>
          <a:solidFill>
            <a:srgbClr val="00D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423159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73763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423159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23864"/>
                </a:solidFill>
                <a:latin typeface="Calibri"/>
              </a:rPr>
              <a:t>Proxy vs BFF definitions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017520"/>
            <a:ext cx="640080" cy="502920"/>
          </a:xfrm>
          <a:prstGeom prst="rect">
            <a:avLst/>
          </a:prstGeom>
          <a:solidFill>
            <a:srgbClr val="00D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63239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73763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063239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23864"/>
                </a:solidFill>
                <a:latin typeface="Calibri"/>
              </a:rPr>
              <a:t>GreenKey architecture &amp; ownership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640080" cy="502920"/>
          </a:xfrm>
          <a:prstGeom prst="rect">
            <a:avLst/>
          </a:prstGeom>
          <a:solidFill>
            <a:srgbClr val="00D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7033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73763"/>
                </a:solidFill>
                <a:latin typeface="Calibr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7033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23864"/>
                </a:solidFill>
                <a:latin typeface="Calibri"/>
              </a:rPr>
              <a:t>Product stories (auth, save, M-Pesa, dual-write)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297680"/>
            <a:ext cx="640080" cy="502920"/>
          </a:xfrm>
          <a:prstGeom prst="rect">
            <a:avLst/>
          </a:prstGeom>
          <a:solidFill>
            <a:srgbClr val="00D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3434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73763"/>
                </a:solidFill>
                <a:latin typeface="Calibri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3434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23864"/>
                </a:solidFill>
                <a:latin typeface="Calibri"/>
              </a:rPr>
              <a:t>Live demo + Swagger as mobile view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937760"/>
            <a:ext cx="640080" cy="502920"/>
          </a:xfrm>
          <a:prstGeom prst="rect">
            <a:avLst/>
          </a:prstGeom>
          <a:solidFill>
            <a:srgbClr val="00D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9834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73763"/>
                </a:solidFill>
                <a:latin typeface="Calibri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9834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23864"/>
                </a:solidFill>
                <a:latin typeface="Calibri"/>
              </a:rPr>
              <a:t>Takeaways &amp; Q&amp;A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CCCCCC"/>
                </a:solidFill>
                <a:latin typeface="Calibri"/>
              </a:rPr>
              <a:t>RenderCon · Proxy vs BFF · GreenKey Realty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CCCCCC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>
                <a:solidFill>
                  <a:srgbClr val="FFFFFF"/>
                </a:solidFill>
                <a:latin typeface="Calibri"/>
              </a:rPr>
              <a:t>Proxy = the receptionist who points you</a:t>
            </a:r>
          </a:p>
          <a:p>
            <a:pPr algn="l">
              <a:spcAft>
                <a:spcPts val="600"/>
              </a:spcAft>
            </a:pPr>
            <a:r>
              <a:rPr sz="2600" b="0">
                <a:solidFill>
                  <a:srgbClr val="FFFFFF"/>
                </a:solidFill>
                <a:latin typeface="Calibri"/>
              </a:rPr>
              <a:t>to the right department.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600" b="0">
                <a:solidFill>
                  <a:srgbClr val="00D6C0"/>
                </a:solidFill>
                <a:latin typeface="Calibri"/>
              </a:rPr>
              <a:t>BFF = the assistant who visits three departments,</a:t>
            </a:r>
          </a:p>
          <a:p>
            <a:pPr algn="l">
              <a:spcAft>
                <a:spcPts val="600"/>
              </a:spcAft>
            </a:pPr>
            <a:r>
              <a:rPr sz="2600" b="0">
                <a:solidFill>
                  <a:srgbClr val="00D6C0"/>
                </a:solidFill>
                <a:latin typeface="Calibri"/>
              </a:rPr>
              <a:t>collects the paperwork, staples it, and hands</a:t>
            </a:r>
          </a:p>
          <a:p>
            <a:pPr algn="l">
              <a:spcAft>
                <a:spcPts val="600"/>
              </a:spcAft>
            </a:pPr>
            <a:r>
              <a:rPr sz="2600" b="0">
                <a:solidFill>
                  <a:srgbClr val="00D6C0"/>
                </a:solidFill>
                <a:latin typeface="Calibri"/>
              </a:rPr>
              <a:t>you a one-page summary.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CCCCCC"/>
                </a:solidFill>
                <a:latin typeface="Calibri"/>
              </a:rPr>
              <a:t>— Spine of this talk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CCCCCC"/>
                </a:solidFill>
                <a:latin typeface="Calibri"/>
              </a:rPr>
              <a:t>RenderCon · Proxy vs BFF · GreenKey Realty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CCCCCC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D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D6C0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WHY THIS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EFEFEF"/>
                </a:solidFill>
                <a:latin typeface="Calibri"/>
              </a:rPr>
              <a:t>Many backends. One UI. Secrets must stay server-side.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CCCCCC"/>
                </a:solidFill>
                <a:latin typeface="Calibri"/>
              </a:rPr>
              <a:t>RenderCon · Proxy vs BFF · GreenKey Realty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CCCCCC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73763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23864"/>
                </a:solidFill>
                <a:latin typeface="Calibri"/>
              </a:rPr>
              <a:t>If every client talks to every provider, coupling explodes.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847088"/>
            <a:ext cx="164592" cy="164592"/>
          </a:xfrm>
          <a:prstGeom prst="rect">
            <a:avLst/>
          </a:prstGeom>
          <a:solidFill>
            <a:srgbClr val="00D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423864"/>
                </a:solidFill>
                <a:latin typeface="Calibri"/>
              </a:rPr>
              <a:t>Modern React apps need identity, CMS, payments, and messaging.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441448"/>
            <a:ext cx="164592" cy="164592"/>
          </a:xfrm>
          <a:prstGeom prst="rect">
            <a:avLst/>
          </a:prstGeom>
          <a:solidFill>
            <a:srgbClr val="00D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317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423864"/>
                </a:solidFill>
                <a:latin typeface="Calibri"/>
              </a:rPr>
              <a:t>Putting all of that in the browser (or only in Next) leaks secrets.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35808"/>
            <a:ext cx="164592" cy="164592"/>
          </a:xfrm>
          <a:prstGeom prst="rect">
            <a:avLst/>
          </a:prstGeom>
          <a:solidFill>
            <a:srgbClr val="00D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926079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423864"/>
                </a:solidFill>
                <a:latin typeface="Calibri"/>
              </a:rPr>
              <a:t>You also duplicate logic when mobile arrives.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630168"/>
            <a:ext cx="164592" cy="164592"/>
          </a:xfrm>
          <a:prstGeom prst="rect">
            <a:avLst/>
          </a:prstGeom>
          <a:solidFill>
            <a:srgbClr val="00D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20439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423864"/>
                </a:solidFill>
                <a:latin typeface="Calibri"/>
              </a:rPr>
              <a:t>GreenKey: Sanity + Postgres + Redis + M-Pesa + SMS/WhatsApp/email.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CCCCCC"/>
                </a:solidFill>
                <a:latin typeface="Calibri"/>
              </a:rPr>
              <a:t>RenderCon · Proxy vs BFF · GreenKey Realty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CCCCCC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73763"/>
                </a:solidFill>
                <a:latin typeface="Calibri"/>
              </a:rPr>
              <a:t>PROXY vs BFF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394960" cy="493776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0D6C0"/>
                </a:solidFill>
                <a:latin typeface="Calibri"/>
              </a:rPr>
              <a:t>PROXY (receptionist)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Route / gate / rewrite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“Go to Billing” / redirect to sign-in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Next.js proxy.ts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Protects /dashboard, refreshes cookies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Does not assemble business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05840"/>
            <a:ext cx="5394960" cy="493776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2344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0D6C0"/>
                </a:solidFill>
                <a:latin typeface="Calibri"/>
              </a:rPr>
              <a:t>BFF (assistant)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92024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Shape data for this 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4688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Call PG + Sanity + M-Pesa → one 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0175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Nest /v1 + Next /api Route Handlers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5661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Hides Daraja &amp; Sanity write tokens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11480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Shared contract for web + mobile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CCCCCC"/>
                </a:solidFill>
                <a:latin typeface="Calibri"/>
              </a:rPr>
              <a:t>RenderCon · Proxy vs BFF · GreenKey Realty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CCCCCC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D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D6C0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EFEFEF"/>
                </a:solidFill>
                <a:latin typeface="Calibri"/>
              </a:rPr>
              <a:t>Next edge + Nest domain BFF — matches Next docs, ready for mobile.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CCCCCC"/>
                </a:solidFill>
                <a:latin typeface="Calibri"/>
              </a:rPr>
              <a:t>RenderCon · Proxy vs BFF · GreenKey Realty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CCCCCC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73763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23864"/>
                </a:solidFill>
                <a:latin typeface="Calibri"/>
              </a:rPr>
              <a:t>Two-layer BFF: Next is the web edge · Nest /v1 is the domain BFF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103120" cy="164592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148840"/>
            <a:ext cx="18745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Browser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UI only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828800"/>
            <a:ext cx="2103120" cy="164592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44368" y="2148840"/>
            <a:ext cx="18745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Next.js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cookies · /api · proxy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80" y="1828800"/>
            <a:ext cx="2103120" cy="1645920"/>
          </a:xfrm>
          <a:prstGeom prst="rect">
            <a:avLst/>
          </a:prstGeom>
          <a:solidFill>
            <a:srgbClr val="00D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21808" y="2148840"/>
            <a:ext cx="18745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073763"/>
                </a:solidFill>
                <a:latin typeface="Calibri"/>
              </a:rPr>
              <a:t>Nest /v1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073763"/>
                </a:solidFill>
                <a:latin typeface="Calibri"/>
              </a:rPr>
              <a:t>OTP · billing · writes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828800"/>
            <a:ext cx="2103120" cy="164592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2148840"/>
            <a:ext cx="18745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Data plane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PG · Redis · Sanity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1828800"/>
            <a:ext cx="2103120" cy="164592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02367" y="2148840"/>
            <a:ext cx="18745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Providers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M-Pesa · SMS · email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84048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73763"/>
                </a:solidFill>
                <a:latin typeface="Calibri"/>
              </a:rPr>
              <a:t>Flow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23864"/>
                </a:solidFill>
                <a:latin typeface="Calibri"/>
              </a:rPr>
              <a:t>Browser → Next (httpOnly cookies + Route Handlers) → Nest BFF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23864"/>
                </a:solidFill>
                <a:latin typeface="Calibri"/>
              </a:rPr>
              <a:t>Nest talks to Postgres, Redis, Sanity write API, Daraja, AT/Infobip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23864"/>
                </a:solidFill>
                <a:latin typeface="Calibri"/>
              </a:rPr>
              <a:t>Next may GROQ-read Sanity for public pages; secrets never leave Nest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23864"/>
                </a:solidFill>
                <a:latin typeface="Calibri"/>
              </a:rPr>
              <a:t>Mobile uses the same /v1 with Bearer tokens (Swagger demo)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CCCCCC"/>
                </a:solidFill>
                <a:latin typeface="Calibri"/>
              </a:rPr>
              <a:t>RenderCon · Proxy vs BFF · GreenKey Realty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CCCCCC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73763"/>
                </a:solidFill>
                <a:latin typeface="Calibri"/>
              </a:rPr>
              <a:t>DATA OWNERSHIP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6583680" cy="64008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40880" y="1051560"/>
            <a:ext cx="4389120" cy="640080"/>
          </a:xfrm>
          <a:prstGeom prst="rect">
            <a:avLst/>
          </a:prstGeom>
          <a:solidFill>
            <a:srgbClr val="00D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88719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Concern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1188719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73763"/>
                </a:solidFill>
                <a:latin typeface="Calibri"/>
              </a:rPr>
              <a:t>Owner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09928"/>
            <a:ext cx="65836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40880" y="1709928"/>
            <a:ext cx="43891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47088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23864"/>
                </a:solidFill>
                <a:latin typeface="Calibri"/>
              </a:rPr>
              <a:t>Listing content &amp; media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184708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23864"/>
                </a:solidFill>
                <a:latin typeface="Calibri"/>
              </a:rPr>
              <a:t>Sanity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68296"/>
            <a:ext cx="6583680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0880" y="2368296"/>
            <a:ext cx="4389120" cy="640080"/>
          </a:xfrm>
          <a:prstGeom prst="rect">
            <a:avLst/>
          </a:prstGeom>
          <a:solidFill>
            <a:srgbClr val="E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505456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23864"/>
                </a:solidFill>
                <a:latin typeface="Calibri"/>
              </a:rPr>
              <a:t>Users, JWT refresh, roles, subscriptions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505456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23864"/>
                </a:solidFill>
                <a:latin typeface="Calibri"/>
              </a:rPr>
              <a:t>Postgres + Nest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26663"/>
            <a:ext cx="65836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0880" y="3026663"/>
            <a:ext cx="43891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163823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23864"/>
                </a:solidFill>
                <a:latin typeface="Calibri"/>
              </a:rPr>
              <a:t>OTP codes, rate limits, payment locks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163823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23864"/>
                </a:solidFill>
                <a:latin typeface="Calibri"/>
              </a:rPr>
              <a:t>Redis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685031"/>
            <a:ext cx="6583680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40880" y="3685031"/>
            <a:ext cx="4389120" cy="640080"/>
          </a:xfrm>
          <a:prstGeom prst="rect">
            <a:avLst/>
          </a:prstGeom>
          <a:solidFill>
            <a:srgbClr val="E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822191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23864"/>
                </a:solidFill>
                <a:latin typeface="Calibri"/>
              </a:rPr>
              <a:t>M-Pesa / SMS / WhatsApp / email secrets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3822191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23864"/>
                </a:solidFill>
                <a:latin typeface="Calibri"/>
              </a:rPr>
              <a:t>Nest only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343399"/>
            <a:ext cx="65836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40880" y="4343399"/>
            <a:ext cx="43891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480559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23864"/>
                </a:solidFill>
                <a:latin typeface="Calibri"/>
              </a:rPr>
              <a:t>PropertyMirror / Lead ops rows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4480559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23864"/>
                </a:solidFill>
                <a:latin typeface="Calibri"/>
              </a:rPr>
              <a:t>Postgres via Nest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001767"/>
            <a:ext cx="6583680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40880" y="5001767"/>
            <a:ext cx="4389120" cy="640080"/>
          </a:xfrm>
          <a:prstGeom prst="rect">
            <a:avLst/>
          </a:prstGeom>
          <a:solidFill>
            <a:srgbClr val="E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138927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23864"/>
                </a:solidFill>
                <a:latin typeface="Calibri"/>
              </a:rPr>
              <a:t>Agent dashboard listing UI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5138927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23864"/>
                </a:solidFill>
                <a:latin typeface="Calibri"/>
              </a:rPr>
              <a:t>Sanity (writes via Nest)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CCCCCC"/>
                </a:solidFill>
                <a:latin typeface="Calibri"/>
              </a:rPr>
              <a:t>RenderCon · Proxy vs BFF · GreenKey Realty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CCCCCC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73763"/>
                </a:solidFill>
                <a:latin typeface="Calibri"/>
              </a:rPr>
              <a:t>GREENKEY PRODUCT STORIES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2743200" cy="4572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2743200" cy="640080"/>
          </a:xfrm>
          <a:prstGeom prst="rect">
            <a:avLst/>
          </a:prstGeom>
          <a:solidFill>
            <a:srgbClr val="00D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73763"/>
                </a:solidFill>
                <a:latin typeface="Calibri"/>
              </a:rPr>
              <a:t>Auth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2377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OTP in Nest + Redis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Web: httpOnly cookies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Mobile: Bearer tokens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097280"/>
            <a:ext cx="2743200" cy="4572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097280"/>
            <a:ext cx="2743200" cy="640080"/>
          </a:xfrm>
          <a:prstGeom prst="rect">
            <a:avLst/>
          </a:prstGeom>
          <a:solidFill>
            <a:srgbClr val="00D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188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73763"/>
                </a:solidFill>
                <a:latin typeface="Calibri"/>
              </a:rPr>
              <a:t>Aggregation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011680"/>
            <a:ext cx="2377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Saved listings =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Postgres IDs +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Sanity property cards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097280"/>
            <a:ext cx="2743200" cy="4572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097280"/>
            <a:ext cx="2743200" cy="640080"/>
          </a:xfrm>
          <a:prstGeom prst="rect">
            <a:avLst/>
          </a:prstGeom>
          <a:solidFill>
            <a:srgbClr val="00D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188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73763"/>
                </a:solidFill>
                <a:latin typeface="Calibri"/>
              </a:rPr>
              <a:t>Billing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011680"/>
            <a:ext cx="2377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M-Pesa STK + callback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stay on Nest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No Daraja keys in browser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20" y="1097280"/>
            <a:ext cx="2743200" cy="4572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89720" y="1097280"/>
            <a:ext cx="2743200" cy="640080"/>
          </a:xfrm>
          <a:prstGeom prst="rect">
            <a:avLst/>
          </a:prstGeom>
          <a:solidFill>
            <a:srgbClr val="00D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1188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73763"/>
                </a:solidFill>
                <a:latin typeface="Calibri"/>
              </a:rPr>
              <a:t>Dual-write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011680"/>
            <a:ext cx="2377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Create listing →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Sanity doc +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PropertyMirror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CCCCCC"/>
                </a:solidFill>
                <a:latin typeface="Calibri"/>
              </a:rPr>
              <a:t>RenderCon · Proxy vs BFF · GreenKey Realty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CCCCCC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73763"/>
                </a:solidFill>
                <a:latin typeface="Calibri"/>
              </a:rPr>
              <a:t>ONE BACKEND · MANY VIEWS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005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Surface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0058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What it shows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1124712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08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23864"/>
                </a:solidFill>
                <a:latin typeface="Calibri"/>
              </a:rPr>
              <a:t>Buyer 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508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B5394"/>
                </a:solidFill>
                <a:latin typeface="Calibri"/>
              </a:rPr>
              <a:t>/properties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5087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23864"/>
                </a:solidFill>
                <a:latin typeface="Calibri"/>
              </a:rPr>
              <a:t>Sanity read + optional session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920240"/>
            <a:ext cx="11247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011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23864"/>
                </a:solidFill>
                <a:latin typeface="Calibri"/>
              </a:rPr>
              <a:t>Auth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011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B5394"/>
                </a:solidFill>
                <a:latin typeface="Calibri"/>
              </a:rPr>
              <a:t>/sign-in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0116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23864"/>
                </a:solidFill>
                <a:latin typeface="Calibri"/>
              </a:rPr>
              <a:t>Next /api/auth → Nest OTP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423160"/>
            <a:ext cx="1124712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514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23864"/>
                </a:solidFill>
                <a:latin typeface="Calibri"/>
              </a:rPr>
              <a:t>Buyer account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514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B5394"/>
                </a:solidFill>
                <a:latin typeface="Calibri"/>
              </a:rPr>
              <a:t>/saved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5146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23864"/>
                </a:solidFill>
                <a:latin typeface="Calibri"/>
              </a:rPr>
              <a:t>Postgres + Sanity join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926080"/>
            <a:ext cx="11247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017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23864"/>
                </a:solidFill>
                <a:latin typeface="Calibri"/>
              </a:rPr>
              <a:t>Billing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017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B5394"/>
                </a:solidFill>
                <a:latin typeface="Calibri"/>
              </a:rPr>
              <a:t>/pricing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0175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23864"/>
                </a:solidFill>
                <a:latin typeface="Calibri"/>
              </a:rPr>
              <a:t>Nest plan + STK / bank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429000"/>
            <a:ext cx="1124712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520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23864"/>
                </a:solidFill>
                <a:latin typeface="Calibri"/>
              </a:rPr>
              <a:t>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3520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B5394"/>
                </a:solidFill>
                <a:latin typeface="Calibri"/>
              </a:rPr>
              <a:t>/dashboard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35204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23864"/>
                </a:solidFill>
                <a:latin typeface="Calibri"/>
              </a:rPr>
              <a:t>Same BFF + plan gate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931920"/>
            <a:ext cx="11247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02335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23864"/>
                </a:solidFill>
                <a:latin typeface="Calibri"/>
              </a:rPr>
              <a:t>Admin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02335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B5394"/>
                </a:solidFill>
                <a:latin typeface="Calibri"/>
              </a:rPr>
              <a:t>/admin/payments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4023359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23864"/>
                </a:solidFill>
                <a:latin typeface="Calibri"/>
              </a:rPr>
              <a:t>Ops slice of /v1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434840"/>
            <a:ext cx="1124712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52627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23864"/>
                </a:solidFill>
                <a:latin typeface="Calibri"/>
              </a:rPr>
              <a:t>CMS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452627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B5394"/>
                </a:solidFill>
                <a:latin typeface="Calibri"/>
              </a:rPr>
              <a:t>/studio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4526279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23864"/>
                </a:solidFill>
                <a:latin typeface="Calibri"/>
              </a:rPr>
              <a:t>Raw Sanity documents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937759"/>
            <a:ext cx="11247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02919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23864"/>
                </a:solidFill>
                <a:latin typeface="Calibri"/>
              </a:rPr>
              <a:t>Mobile 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502919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B5394"/>
                </a:solidFill>
                <a:latin typeface="Calibri"/>
              </a:rPr>
              <a:t>:4000/docs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5029199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23864"/>
                </a:solidFill>
                <a:latin typeface="Calibri"/>
              </a:rPr>
              <a:t>Swagger + Bearer tokens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CCCCCC"/>
                </a:solidFill>
                <a:latin typeface="Calibri"/>
              </a:rPr>
              <a:t>RenderCon · Proxy vs BFF · GreenKey Realty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CCCCCC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D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0D6C0"/>
                </a:solidFill>
                <a:latin typeface="Calibri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1. Browse / → /properties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2. OTP sign-in → cookies (not raw JWTs in JSON)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7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3. Save a listing (aggregation)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6323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4. /pricing → simulate STK → agent unlock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59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5. Create listing → open /studio (dual-write)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5195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6. Incognito: Contact agent → /dashboard/leads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46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7. Swagger /docs = mobile Bearer 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CCCCCC"/>
                </a:solidFill>
                <a:latin typeface="Calibri"/>
              </a:rPr>
              <a:t>RenderCon · Proxy vs BFF · GreenKey Realty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CCCCCC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73763"/>
                </a:solidFill>
                <a:latin typeface="Calibri"/>
              </a:rPr>
              <a:t>DEMO PREP — 8 TABS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5394"/>
                </a:solidFill>
                <a:latin typeface="Calibri"/>
              </a:rPr>
              <a:t>Web surfaces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5394"/>
                </a:solidFill>
                <a:latin typeface="Calibri"/>
              </a:rPr>
              <a:t>Ops / mobile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23864"/>
                </a:solidFill>
                <a:latin typeface="Calibri"/>
              </a:rPr>
              <a:t>•  http://localhost:3000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23864"/>
                </a:solidFill>
                <a:latin typeface="Calibri"/>
              </a:rPr>
              <a:t>•  /dashboard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23864"/>
                </a:solidFill>
                <a:latin typeface="Calibri"/>
              </a:rPr>
              <a:t>•  /sign-in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23864"/>
                </a:solidFill>
                <a:latin typeface="Calibri"/>
              </a:rPr>
              <a:t>•  /dashboard/admin/payments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260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23864"/>
                </a:solidFill>
                <a:latin typeface="Calibri"/>
              </a:rPr>
              <a:t>•  /saved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9260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23864"/>
                </a:solidFill>
                <a:latin typeface="Calibri"/>
              </a:rPr>
              <a:t>•  /studio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66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23864"/>
                </a:solidFill>
                <a:latin typeface="Calibri"/>
              </a:rPr>
              <a:t>•  /pricing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566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23864"/>
                </a:solidFill>
                <a:latin typeface="Calibri"/>
              </a:rPr>
              <a:t>•  http://localhost:4000/docs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7548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73763"/>
                </a:solidFill>
                <a:latin typeface="Calibri"/>
              </a:rPr>
              <a:t>Run: pnpm docker:up · pnpm dev:api · pnpm/npm run dev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23864"/>
                </a:solidFill>
                <a:latin typeface="Calibri"/>
              </a:rPr>
              <a:t>Demo-safe: console OTP · M-Pesa simulate-complete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CCCCCC"/>
                </a:solidFill>
                <a:latin typeface="Calibri"/>
              </a:rPr>
              <a:t>RenderCon · Proxy vs BFF · GreenKey Realty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CCCCCC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D6C0"/>
                </a:solidFill>
                <a:latin typeface="Calibri"/>
              </a:rPr>
              <a:t>RULE OF THUMB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800" b="0">
                <a:solidFill>
                  <a:srgbClr val="FFFFFF"/>
                </a:solidFill>
                <a:latin typeface="Calibri"/>
              </a:rPr>
              <a:t>If you’re only forwarding,</a:t>
            </a:r>
          </a:p>
          <a:p>
            <a:pPr algn="l">
              <a:spcAft>
                <a:spcPts val="600"/>
              </a:spcAft>
            </a:pPr>
            <a:r>
              <a:rPr sz="2800" b="0">
                <a:solidFill>
                  <a:srgbClr val="FFFFFF"/>
                </a:solidFill>
                <a:latin typeface="Calibri"/>
              </a:rPr>
              <a:t>it’s a proxy.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800" b="0">
                <a:solidFill>
                  <a:srgbClr val="00D6C0"/>
                </a:solidFill>
                <a:latin typeface="Calibri"/>
              </a:rPr>
              <a:t>If you’re shaping for a client</a:t>
            </a:r>
          </a:p>
          <a:p>
            <a:pPr algn="l">
              <a:spcAft>
                <a:spcPts val="600"/>
              </a:spcAft>
            </a:pPr>
            <a:r>
              <a:rPr sz="2800" b="0">
                <a:solidFill>
                  <a:srgbClr val="00D6C0"/>
                </a:solidFill>
                <a:latin typeface="Calibri"/>
              </a:rPr>
              <a:t>and protecting secrets,</a:t>
            </a:r>
          </a:p>
          <a:p>
            <a:pPr algn="l">
              <a:spcAft>
                <a:spcPts val="600"/>
              </a:spcAft>
            </a:pPr>
            <a:r>
              <a:rPr sz="2800" b="0">
                <a:solidFill>
                  <a:srgbClr val="00D6C0"/>
                </a:solidFill>
                <a:latin typeface="Calibri"/>
              </a:rPr>
              <a:t>it’s a BFF.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CCCCCC"/>
                </a:solidFill>
                <a:latin typeface="Calibri"/>
              </a:rPr>
              <a:t>RenderCon · Proxy vs BFF · GreenKey Realty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CCCCCC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73763"/>
                </a:solidFill>
                <a:latin typeface="Calibri"/>
              </a:rPr>
              <a:t>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77724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1.  Proxy directs; BFF delivers a UI-shaped answer.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11064240" cy="77724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2.  Don’t put provider secrets in the client.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926080"/>
            <a:ext cx="11064240" cy="77724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3.  One /v1 contract serves web + mobile (cookies vs Bearer).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840480"/>
            <a:ext cx="11064240" cy="77724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23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4.  CMS ≠ system of record for accounts and payments.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754880"/>
            <a:ext cx="11064240" cy="77724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937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5.  Why not M-Pesa in Next? Callbacks, secrets, mobile, ops.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CCCCCC"/>
                </a:solidFill>
                <a:latin typeface="Calibri"/>
              </a:rPr>
              <a:t>RenderCon · Proxy vs BFF · GreenKey Realty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CCCCCC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00D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EFEFEF"/>
                </a:solidFill>
                <a:latin typeface="Calibri"/>
              </a:rPr>
              <a:t>[Your Name]  ·  GreenKey Realty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Docs: TECH_TALK_BFF.md · MOBILE_API.md · RENDERCON_FULL_TALK_SCRIPT.md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Next.js BFF guide · classic BFF talk (YouTube)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15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73763"/>
                </a:solidFill>
                <a:latin typeface="Calibri"/>
              </a:rPr>
              <a:t>Thanks — let’s discuss architecture choices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CCCCCC"/>
                </a:solidFill>
                <a:latin typeface="Calibri"/>
              </a:rPr>
              <a:t>RenderCon · Proxy vs BFF · GreenKey Realty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CCCCCC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073763"/>
                </a:solidFill>
                <a:latin typeface="Calibri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23864"/>
                </a:solidFill>
                <a:latin typeface="Calibri"/>
              </a:rPr>
              <a:t>Presentation visuals adapted from a Slidesgo Tech Startup template.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Please keep this attribution slide for license compliance.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Palette inspired by Squada One / Roboto Condensed theme colors.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0B5394"/>
                </a:solidFill>
                <a:latin typeface="Calibri"/>
              </a:rPr>
              <a:t>slidesgo.com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CCCCCC"/>
                </a:solidFill>
                <a:latin typeface="Calibri"/>
              </a:rPr>
              <a:t>RenderCon · Proxy vs BFF · GreenKey Realty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CCCCCC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